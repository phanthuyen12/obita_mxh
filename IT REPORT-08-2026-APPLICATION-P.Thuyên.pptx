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303" r:id="rId4"/>
    <p:sldId id="3305" r:id="rId5"/>
    <p:sldId id="3309" r:id="rId7"/>
    <p:sldId id="3308" r:id="rId8"/>
    <p:sldId id="3307" r:id="rId9"/>
    <p:sldId id="3300" r:id="rId10"/>
    <p:sldId id="318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FF7C80"/>
    <a:srgbClr val="FF5050"/>
    <a:srgbClr val="CCFF66"/>
    <a:srgbClr val="00FF00"/>
    <a:srgbClr val="FF0000"/>
    <a:srgbClr val="FFFFCC"/>
    <a:srgbClr val="FF99FF"/>
    <a:srgbClr val="CCFFCC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30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8" d="100"/>
        <a:sy n="118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5BC4C5-F804-43E5-88CD-AA8A2F373563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82A63-36FF-4B4B-9349-B7CD37EC151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image" Target="../media/image8.jpe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image" Target="../media/image12.jpe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8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EB9BB9-E2F4-4F75-BA03-08CB86A18D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F327DB-28DE-48D1-B9E1-9C1A03D49FB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EB9BB9-E2F4-4F75-BA03-08CB86A18D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F327DB-28DE-48D1-B9E1-9C1A03D49FB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EB9BB9-E2F4-4F75-BA03-08CB86A18D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F327DB-28DE-48D1-B9E1-9C1A03D49FB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EB9BB9-E2F4-4F75-BA03-08CB86A18DE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F327DB-28DE-48D1-B9E1-9C1A03D49FB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EB9BB9-E2F4-4F75-BA03-08CB86A18D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F327DB-28DE-48D1-B9E1-9C1A03D49FB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EB9BB9-E2F4-4F75-BA03-08CB86A18DE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F327DB-28DE-48D1-B9E1-9C1A03D49FB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EB9BB9-E2F4-4F75-BA03-08CB86A18D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F327DB-28DE-48D1-B9E1-9C1A03D49FB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EB9BB9-E2F4-4F75-BA03-08CB86A18D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F327DB-28DE-48D1-B9E1-9C1A03D49FB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EB9BB9-E2F4-4F75-BA03-08CB86A18D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F327DB-28DE-48D1-B9E1-9C1A03D49FB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EB9BB9-E2F4-4F75-BA03-08CB86A18D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0F327DB-28DE-48D1-B9E1-9C1A03D49FB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D5A4EF-1F3B-47FB-989C-DF517E83439D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4887472-B4D1-4FB1-94B3-CA6A0315C4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03" b="13359"/>
          <a:stretch>
            <a:fillRect/>
          </a:stretch>
        </p:blipFill>
        <p:spPr>
          <a:xfrm>
            <a:off x="4940197" y="173818"/>
            <a:ext cx="2257232" cy="6604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0" t="11690" r="8282" b="21575"/>
          <a:stretch>
            <a:fillRect/>
          </a:stretch>
        </p:blipFill>
        <p:spPr>
          <a:xfrm>
            <a:off x="4687470" y="1008086"/>
            <a:ext cx="2844800" cy="177962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5" t="13096" b="22977"/>
          <a:stretch>
            <a:fillRect/>
          </a:stretch>
        </p:blipFill>
        <p:spPr>
          <a:xfrm>
            <a:off x="563779" y="5791201"/>
            <a:ext cx="11092183" cy="10483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953"/>
          <a:stretch>
            <a:fillRect/>
          </a:stretch>
        </p:blipFill>
        <p:spPr>
          <a:xfrm>
            <a:off x="0" y="6374675"/>
            <a:ext cx="12182458" cy="4833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41864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3793"/>
            <a:ext cx="10515600" cy="486317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D5A4EF-1F3B-47FB-989C-DF517E83439D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0" t="11690" r="8282" b="21575"/>
          <a:stretch>
            <a:fillRect/>
          </a:stretch>
        </p:blipFill>
        <p:spPr>
          <a:xfrm>
            <a:off x="10701797" y="107360"/>
            <a:ext cx="1304005" cy="81574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03" b="13359"/>
          <a:stretch>
            <a:fillRect/>
          </a:stretch>
        </p:blipFill>
        <p:spPr>
          <a:xfrm>
            <a:off x="144910" y="6407752"/>
            <a:ext cx="1538822" cy="450248"/>
          </a:xfrm>
          <a:prstGeom prst="rect">
            <a:avLst/>
          </a:prstGeom>
        </p:spPr>
      </p:pic>
      <p:sp>
        <p:nvSpPr>
          <p:cNvPr id="2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4887472-B4D1-4FB1-94B3-CA6A0315C4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6" name="Group 25"/>
          <p:cNvGrpSpPr/>
          <p:nvPr userDrawn="1"/>
        </p:nvGrpSpPr>
        <p:grpSpPr>
          <a:xfrm>
            <a:off x="8629745" y="6435634"/>
            <a:ext cx="3263009" cy="276999"/>
            <a:chOff x="8629745" y="6435634"/>
            <a:chExt cx="3263009" cy="276999"/>
          </a:xfrm>
        </p:grpSpPr>
        <p:sp>
          <p:nvSpPr>
            <p:cNvPr id="27" name="TextBox 26"/>
            <p:cNvSpPr txBox="1"/>
            <p:nvPr userDrawn="1"/>
          </p:nvSpPr>
          <p:spPr>
            <a:xfrm>
              <a:off x="8629745" y="6435634"/>
              <a:ext cx="32630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www.tnicorporation.com        @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kingcoffeeglobal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8" name="Picture 27"/>
            <p:cNvPicPr>
              <a:picLocks noChangeAspect="1"/>
            </p:cNvPicPr>
            <p:nvPr userDrawn="1"/>
          </p:nvPicPr>
          <p:blipFill rotWithShape="1"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35" t="12717" r="13835" b="16984"/>
            <a:stretch>
              <a:fillRect/>
            </a:stretch>
          </p:blipFill>
          <p:spPr>
            <a:xfrm>
              <a:off x="10344927" y="6490084"/>
              <a:ext cx="171567" cy="166748"/>
            </a:xfrm>
            <a:prstGeom prst="rect">
              <a:avLst/>
            </a:prstGeom>
          </p:spPr>
        </p:pic>
      </p:grpSp>
      <p:cxnSp>
        <p:nvCxnSpPr>
          <p:cNvPr id="29" name="Straight Connector 28"/>
          <p:cNvCxnSpPr/>
          <p:nvPr userDrawn="1"/>
        </p:nvCxnSpPr>
        <p:spPr>
          <a:xfrm>
            <a:off x="10298630" y="6497254"/>
            <a:ext cx="0" cy="14275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591316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D5A4EF-1F3B-47FB-989C-DF517E83439D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4887472-B4D1-4FB1-94B3-CA6A0315C4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0" t="11690" r="8282" b="21575"/>
          <a:stretch>
            <a:fillRect/>
          </a:stretch>
        </p:blipFill>
        <p:spPr>
          <a:xfrm>
            <a:off x="10701797" y="107360"/>
            <a:ext cx="1304005" cy="8157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D5A4EF-1F3B-47FB-989C-DF517E83439D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4887472-B4D1-4FB1-94B3-CA6A0315C4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0" t="11690" r="8282" b="21575"/>
          <a:stretch>
            <a:fillRect/>
          </a:stretch>
        </p:blipFill>
        <p:spPr>
          <a:xfrm>
            <a:off x="10701797" y="107360"/>
            <a:ext cx="1304005" cy="8157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0" t="11690" r="8282" b="21575"/>
          <a:stretch>
            <a:fillRect/>
          </a:stretch>
        </p:blipFill>
        <p:spPr>
          <a:xfrm>
            <a:off x="10701797" y="107360"/>
            <a:ext cx="1304005" cy="815747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6326777"/>
            <a:ext cx="12192000" cy="5312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D5A4EF-1F3B-47FB-989C-DF517E83439D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4887472-B4D1-4FB1-94B3-CA6A0315C4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867103"/>
          </a:xfrm>
          <a:prstGeom prst="rect">
            <a:avLst/>
          </a:prstGeom>
        </p:spPr>
        <p:txBody>
          <a:bodyPr anchor="b"/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450428"/>
            <a:ext cx="3932237" cy="441856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704020202020204" pitchFamily="34" charset="0"/>
              <a:buChar char="•"/>
              <a:defRPr sz="2400"/>
            </a:lvl1pPr>
            <a:lvl2pPr marL="742950" indent="-285750">
              <a:buFont typeface="Arial" panose="020B0704020202020204" pitchFamily="34" charset="0"/>
              <a:buChar char="•"/>
              <a:defRPr sz="2000"/>
            </a:lvl2pPr>
            <a:lvl3pPr marL="1085850" indent="-171450">
              <a:buFont typeface="Arial" panose="020B0704020202020204" pitchFamily="34" charset="0"/>
              <a:buChar char="•"/>
              <a:defRPr sz="1800"/>
            </a:lvl3pPr>
            <a:lvl4pPr marL="1543050" indent="-171450">
              <a:buFont typeface="Arial" panose="020B0704020202020204" pitchFamily="34" charset="0"/>
              <a:buChar char="•"/>
              <a:defRPr sz="1200"/>
            </a:lvl4pPr>
            <a:lvl5pPr marL="2000250" indent="-171450">
              <a:buFont typeface="Arial" panose="020B0704020202020204" pitchFamily="34" charset="0"/>
              <a:buChar char="•"/>
              <a:defRPr sz="12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D5A4EF-1F3B-47FB-989C-DF517E83439D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4887472-B4D1-4FB1-94B3-CA6A0315C4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0" t="11690" r="8282" b="21575"/>
          <a:stretch>
            <a:fillRect/>
          </a:stretch>
        </p:blipFill>
        <p:spPr>
          <a:xfrm>
            <a:off x="10701797" y="107360"/>
            <a:ext cx="1304005" cy="8157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517744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219200"/>
            <a:ext cx="10515600" cy="49577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D5A4EF-1F3B-47FB-989C-DF517E83439D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4887472-B4D1-4FB1-94B3-CA6A0315C4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0" t="11690" r="8282" b="21575"/>
          <a:stretch>
            <a:fillRect/>
          </a:stretch>
        </p:blipFill>
        <p:spPr>
          <a:xfrm>
            <a:off x="10701797" y="107360"/>
            <a:ext cx="1304005" cy="8157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10331668" y="365125"/>
            <a:ext cx="1022131" cy="5811838"/>
          </a:xfrm>
          <a:prstGeom prst="rect">
            <a:avLst/>
          </a:prstGeom>
        </p:spPr>
        <p:txBody>
          <a:bodyPr vert="eaVert"/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9146628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D5A4EF-1F3B-47FB-989C-DF517E83439D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4887472-B4D1-4FB1-94B3-CA6A0315C4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0" t="11690" r="8282" b="21575"/>
          <a:stretch>
            <a:fillRect/>
          </a:stretch>
        </p:blipFill>
        <p:spPr>
          <a:xfrm>
            <a:off x="10701797" y="107360"/>
            <a:ext cx="1304005" cy="8157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1582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D5A4EF-1F3B-47FB-989C-DF517E83439D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4887472-B4D1-4FB1-94B3-CA6A0315C4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5" t="13096" b="22977"/>
          <a:stretch>
            <a:fillRect/>
          </a:stretch>
        </p:blipFill>
        <p:spPr>
          <a:xfrm>
            <a:off x="526835" y="5791201"/>
            <a:ext cx="11092183" cy="10483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03" b="13359"/>
          <a:stretch>
            <a:fillRect/>
          </a:stretch>
        </p:blipFill>
        <p:spPr>
          <a:xfrm>
            <a:off x="4940197" y="173818"/>
            <a:ext cx="2257232" cy="6604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01038"/>
            <a:ext cx="12192000" cy="67569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D8BD707-D9CF-40AE-B4C6-C98DA3205C09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6F15528-21DE-4FAA-801E-634DDDAF4B2B}" type="slidenum"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>
            <a:normAutofit/>
          </a:bodyPr>
          <a:lstStyle>
            <a:lvl1pPr algn="l">
              <a:defRPr sz="3500" b="1" cap="all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164B4CC-1E39-4B6A-B18D-480B3350ACEC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2920F9-7DB0-4BB9-9E1A-56A29853781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 and 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 rtl="0">
              <a:spcBef>
                <a:spcPts val="2135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 rtl="0">
              <a:spcBef>
                <a:spcPts val="2135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 rtl="0">
              <a:spcBef>
                <a:spcPts val="2135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 rtl="0">
              <a:spcBef>
                <a:spcPts val="2135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 rtl="0">
              <a:spcBef>
                <a:spcPts val="2135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 rtl="0">
              <a:spcBef>
                <a:spcPts val="2135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 rtl="0">
              <a:spcBef>
                <a:spcPts val="2135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 rtl="0">
              <a:spcBef>
                <a:spcPts val="2135"/>
              </a:spcBef>
              <a:spcAft>
                <a:spcPts val="2135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0000000-1234-1234-1234-12341234123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1_Section 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6957200" cy="6858000"/>
          </a:xfrm>
          <a:prstGeom prst="rect">
            <a:avLst/>
          </a:prstGeom>
          <a:solidFill>
            <a:srgbClr val="FFF1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Google Shape;18;p3"/>
          <p:cNvSpPr/>
          <p:nvPr/>
        </p:nvSpPr>
        <p:spPr>
          <a:xfrm rot="3599997">
            <a:off x="-3074704" y="820759"/>
            <a:ext cx="12994671" cy="3384812"/>
          </a:xfrm>
          <a:custGeom>
            <a:avLst/>
            <a:gdLst/>
            <a:ahLst/>
            <a:cxnLst/>
            <a:rect l="l" t="t" r="r" b="b"/>
            <a:pathLst>
              <a:path w="82825" h="21574" extrusionOk="0">
                <a:moveTo>
                  <a:pt x="33806" y="0"/>
                </a:moveTo>
                <a:cubicBezTo>
                  <a:pt x="28379" y="0"/>
                  <a:pt x="25888" y="5427"/>
                  <a:pt x="23931" y="9742"/>
                </a:cubicBezTo>
                <a:cubicBezTo>
                  <a:pt x="22018" y="13879"/>
                  <a:pt x="20595" y="16592"/>
                  <a:pt x="18549" y="16592"/>
                </a:cubicBezTo>
                <a:cubicBezTo>
                  <a:pt x="16503" y="16592"/>
                  <a:pt x="15079" y="13879"/>
                  <a:pt x="13167" y="9742"/>
                </a:cubicBezTo>
                <a:cubicBezTo>
                  <a:pt x="11173" y="5445"/>
                  <a:pt x="8738" y="45"/>
                  <a:pt x="3358" y="45"/>
                </a:cubicBezTo>
                <a:cubicBezTo>
                  <a:pt x="3336" y="45"/>
                  <a:pt x="3314" y="45"/>
                  <a:pt x="3292" y="45"/>
                </a:cubicBezTo>
                <a:cubicBezTo>
                  <a:pt x="0" y="45"/>
                  <a:pt x="0" y="4982"/>
                  <a:pt x="3292" y="4982"/>
                </a:cubicBezTo>
                <a:cubicBezTo>
                  <a:pt x="5382" y="4982"/>
                  <a:pt x="6761" y="7696"/>
                  <a:pt x="8674" y="11832"/>
                </a:cubicBezTo>
                <a:cubicBezTo>
                  <a:pt x="10676" y="16147"/>
                  <a:pt x="13122" y="21574"/>
                  <a:pt x="18549" y="21574"/>
                </a:cubicBezTo>
                <a:cubicBezTo>
                  <a:pt x="23976" y="21574"/>
                  <a:pt x="26422" y="16147"/>
                  <a:pt x="28424" y="11832"/>
                </a:cubicBezTo>
                <a:cubicBezTo>
                  <a:pt x="30337" y="7696"/>
                  <a:pt x="31715" y="4982"/>
                  <a:pt x="33806" y="4982"/>
                </a:cubicBezTo>
                <a:cubicBezTo>
                  <a:pt x="35852" y="4982"/>
                  <a:pt x="37276" y="7696"/>
                  <a:pt x="39144" y="11832"/>
                </a:cubicBezTo>
                <a:cubicBezTo>
                  <a:pt x="41146" y="16192"/>
                  <a:pt x="43592" y="21574"/>
                  <a:pt x="49019" y="21574"/>
                </a:cubicBezTo>
                <a:cubicBezTo>
                  <a:pt x="54446" y="21574"/>
                  <a:pt x="56892" y="16147"/>
                  <a:pt x="58894" y="11832"/>
                </a:cubicBezTo>
                <a:cubicBezTo>
                  <a:pt x="60806" y="7696"/>
                  <a:pt x="62230" y="4982"/>
                  <a:pt x="64276" y="4982"/>
                </a:cubicBezTo>
                <a:cubicBezTo>
                  <a:pt x="66322" y="4982"/>
                  <a:pt x="67746" y="7696"/>
                  <a:pt x="69658" y="11832"/>
                </a:cubicBezTo>
                <a:cubicBezTo>
                  <a:pt x="71660" y="16147"/>
                  <a:pt x="74106" y="21574"/>
                  <a:pt x="79533" y="21574"/>
                </a:cubicBezTo>
                <a:cubicBezTo>
                  <a:pt x="82825" y="21574"/>
                  <a:pt x="82825" y="16592"/>
                  <a:pt x="79533" y="16592"/>
                </a:cubicBezTo>
                <a:cubicBezTo>
                  <a:pt x="77443" y="16592"/>
                  <a:pt x="76064" y="13879"/>
                  <a:pt x="74151" y="9742"/>
                </a:cubicBezTo>
                <a:cubicBezTo>
                  <a:pt x="72149" y="5427"/>
                  <a:pt x="69658" y="0"/>
                  <a:pt x="64276" y="0"/>
                </a:cubicBezTo>
                <a:cubicBezTo>
                  <a:pt x="58894" y="0"/>
                  <a:pt x="56403" y="5427"/>
                  <a:pt x="54401" y="9742"/>
                </a:cubicBezTo>
                <a:cubicBezTo>
                  <a:pt x="52488" y="13879"/>
                  <a:pt x="51109" y="16592"/>
                  <a:pt x="49019" y="16592"/>
                </a:cubicBezTo>
                <a:cubicBezTo>
                  <a:pt x="46973" y="16592"/>
                  <a:pt x="45549" y="13879"/>
                  <a:pt x="43681" y="9742"/>
                </a:cubicBezTo>
                <a:cubicBezTo>
                  <a:pt x="41679" y="5427"/>
                  <a:pt x="39233" y="0"/>
                  <a:pt x="3380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906000" y="3762424"/>
            <a:ext cx="51452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highlight>
                  <a:srgbClr val="FFFFFF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highlight>
                  <a:srgbClr val="FFFFFF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highlight>
                  <a:srgbClr val="FFFFFF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highlight>
                  <a:srgbClr val="FFFFFF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highlight>
                  <a:srgbClr val="FFFFFF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highlight>
                  <a:srgbClr val="FFFFFF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highlight>
                  <a:srgbClr val="FFFFFF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highlight>
                  <a:srgbClr val="FFFFFF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highlight>
                  <a:srgbClr val="FFFFFF"/>
                </a:highlight>
              </a:defRPr>
            </a:lvl9pPr>
          </a:lstStyle>
          <a:p/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908600" y="5017435"/>
            <a:ext cx="5140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/>
        </p:txBody>
      </p:sp>
      <p:sp>
        <p:nvSpPr>
          <p:cNvPr id="21" name="Google Shape;21;p3"/>
          <p:cNvSpPr txBox="1">
            <a:spLocks noGrp="1"/>
          </p:cNvSpPr>
          <p:nvPr>
            <p:ph type="title" idx="2" hasCustomPrompt="1"/>
          </p:nvPr>
        </p:nvSpPr>
        <p:spPr>
          <a:xfrm>
            <a:off x="908600" y="997148"/>
            <a:ext cx="5140000" cy="261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22" name="Google Shape;22;p3"/>
          <p:cNvSpPr/>
          <p:nvPr/>
        </p:nvSpPr>
        <p:spPr>
          <a:xfrm>
            <a:off x="11241033" y="5907033"/>
            <a:ext cx="950800" cy="95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11411633" y="6077633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0000000-1234-1234-1234-123412341234}" type="slidenum">
              <a:rPr kumimoji="0" lang="en-GB" sz="1335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rona One"/>
                <a:ea typeface="Krona One"/>
                <a:cs typeface="Krona One"/>
                <a:sym typeface="Krona One"/>
              </a:rPr>
            </a:fld>
            <a:endParaRPr kumimoji="0" sz="1335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rona One"/>
              <a:ea typeface="Krona One"/>
              <a:cs typeface="Krona One"/>
              <a:sym typeface="Krona One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0" y="1770061"/>
            <a:ext cx="12192000" cy="3255962"/>
            <a:chOff x="0" y="1770061"/>
            <a:chExt cx="12192000" cy="3255962"/>
          </a:xfrm>
          <a:solidFill>
            <a:srgbClr val="F3E401"/>
          </a:solidFill>
        </p:grpSpPr>
        <p:sp>
          <p:nvSpPr>
            <p:cNvPr id="8" name="Rectangle 7"/>
            <p:cNvSpPr/>
            <p:nvPr/>
          </p:nvSpPr>
          <p:spPr>
            <a:xfrm>
              <a:off x="0" y="1770061"/>
              <a:ext cx="12192000" cy="11969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704020202020204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4954586"/>
              <a:ext cx="12192000" cy="7143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704020202020204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0" y="4449763"/>
              <a:ext cx="12192000" cy="7143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704020202020204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0" y="3975099"/>
              <a:ext cx="12192000" cy="2508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704020202020204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0" y="3079750"/>
              <a:ext cx="12192000" cy="6985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704020202020204"/>
                <a:ea typeface="+mn-ea"/>
                <a:cs typeface="+mn-cs"/>
              </a:endParaRPr>
            </a:p>
          </p:txBody>
        </p:sp>
      </p:grpSp>
      <p:sp>
        <p:nvSpPr>
          <p:cNvPr id="26" name="Freeform: Shape 25"/>
          <p:cNvSpPr/>
          <p:nvPr userDrawn="1"/>
        </p:nvSpPr>
        <p:spPr>
          <a:xfrm>
            <a:off x="2387600" y="1"/>
            <a:ext cx="7416800" cy="6858001"/>
          </a:xfrm>
          <a:custGeom>
            <a:avLst/>
            <a:gdLst>
              <a:gd name="connsiteX0" fmla="*/ 2297777 w 7416800"/>
              <a:gd name="connsiteY0" fmla="*/ 0 h 6858001"/>
              <a:gd name="connsiteX1" fmla="*/ 5119024 w 7416800"/>
              <a:gd name="connsiteY1" fmla="*/ 0 h 6858001"/>
              <a:gd name="connsiteX2" fmla="*/ 5151877 w 7416800"/>
              <a:gd name="connsiteY2" fmla="*/ 12024 h 6858001"/>
              <a:gd name="connsiteX3" fmla="*/ 7416800 w 7416800"/>
              <a:gd name="connsiteY3" fmla="*/ 3429000 h 6858001"/>
              <a:gd name="connsiteX4" fmla="*/ 5151877 w 7416800"/>
              <a:gd name="connsiteY4" fmla="*/ 6845976 h 6858001"/>
              <a:gd name="connsiteX5" fmla="*/ 5119021 w 7416800"/>
              <a:gd name="connsiteY5" fmla="*/ 6858001 h 6858001"/>
              <a:gd name="connsiteX6" fmla="*/ 2297779 w 7416800"/>
              <a:gd name="connsiteY6" fmla="*/ 6858001 h 6858001"/>
              <a:gd name="connsiteX7" fmla="*/ 2264924 w 7416800"/>
              <a:gd name="connsiteY7" fmla="*/ 6845976 h 6858001"/>
              <a:gd name="connsiteX8" fmla="*/ 0 w 7416800"/>
              <a:gd name="connsiteY8" fmla="*/ 3429000 h 6858001"/>
              <a:gd name="connsiteX9" fmla="*/ 2264924 w 7416800"/>
              <a:gd name="connsiteY9" fmla="*/ 12024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416800" h="6858001">
                <a:moveTo>
                  <a:pt x="2297777" y="0"/>
                </a:moveTo>
                <a:lnTo>
                  <a:pt x="5119024" y="0"/>
                </a:lnTo>
                <a:lnTo>
                  <a:pt x="5151877" y="12024"/>
                </a:lnTo>
                <a:cubicBezTo>
                  <a:pt x="6482877" y="574990"/>
                  <a:pt x="7416800" y="1892930"/>
                  <a:pt x="7416800" y="3429000"/>
                </a:cubicBezTo>
                <a:cubicBezTo>
                  <a:pt x="7416800" y="4965070"/>
                  <a:pt x="6482877" y="6283010"/>
                  <a:pt x="5151877" y="6845976"/>
                </a:cubicBezTo>
                <a:lnTo>
                  <a:pt x="5119021" y="6858001"/>
                </a:lnTo>
                <a:lnTo>
                  <a:pt x="2297779" y="6858001"/>
                </a:lnTo>
                <a:lnTo>
                  <a:pt x="2264924" y="6845976"/>
                </a:lnTo>
                <a:cubicBezTo>
                  <a:pt x="933923" y="6283010"/>
                  <a:pt x="0" y="4965070"/>
                  <a:pt x="0" y="3429000"/>
                </a:cubicBezTo>
                <a:cubicBezTo>
                  <a:pt x="0" y="1892930"/>
                  <a:pt x="933923" y="574990"/>
                  <a:pt x="2264924" y="120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+mn-ea"/>
              <a:cs typeface="+mn-cs"/>
            </a:endParaRPr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4" hasCustomPrompt="1"/>
          </p:nvPr>
        </p:nvSpPr>
        <p:spPr>
          <a:xfrm>
            <a:off x="2667000" y="0"/>
            <a:ext cx="6858000" cy="6858000"/>
          </a:xfrm>
          <a:prstGeom prst="ellipse">
            <a:avLst/>
          </a:prstGeom>
          <a:solidFill>
            <a:srgbClr val="FFDA3F"/>
          </a:solidFill>
        </p:spPr>
        <p:txBody>
          <a:bodyPr vert="horz" lIns="91440" tIns="45720" rIns="91440" bIns="45720" rtlCol="0" anchor="t" anchorCtr="1">
            <a:noAutofit/>
          </a:bodyPr>
          <a:lstStyle>
            <a:lvl1pPr>
              <a:defRPr lang="en-GB" sz="1600" dirty="0">
                <a:solidFill>
                  <a:schemeClr val="bg1"/>
                </a:solidFill>
                <a:latin typeface="+mn-lt"/>
                <a:cs typeface="Arial" panose="020B07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noProof="0" dirty="0"/>
              <a:t>Insert Image</a:t>
            </a:r>
            <a:endParaRPr lang="en-US" noProof="0" dirty="0"/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5791785" y="3949699"/>
            <a:ext cx="608430" cy="0"/>
          </a:xfrm>
          <a:prstGeom prst="line">
            <a:avLst/>
          </a:prstGeom>
          <a:ln w="5715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27248" y="1124712"/>
            <a:ext cx="5943600" cy="2596896"/>
          </a:xfrm>
        </p:spPr>
        <p:txBody>
          <a:bodyPr vert="horz" lIns="91440" tIns="45720" rIns="91440" bIns="45720" rtlCol="0" anchor="b" anchorCtr="1">
            <a:noAutofit/>
          </a:bodyPr>
          <a:lstStyle>
            <a:lvl1pPr algn="ctr">
              <a:defRPr lang="en-GB" sz="5400" b="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80000"/>
              </a:lnSpc>
            </a:pPr>
            <a:r>
              <a:rPr lang="en-US" noProof="0" dirty="0"/>
              <a:t>Title</a:t>
            </a:r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84448" y="4315968"/>
            <a:ext cx="5029200" cy="886968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ctr">
              <a:buNone/>
              <a:defRPr lang="en-GB" sz="1800" b="1" spc="300" dirty="0">
                <a:solidFill>
                  <a:schemeClr val="bg1"/>
                </a:solidFill>
                <a:latin typeface="+mn-lt"/>
                <a:cs typeface="Arial" panose="020B0704020202020204" pitchFamily="34" charset="0"/>
              </a:defRPr>
            </a:lvl1pPr>
          </a:lstStyle>
          <a:p>
            <a:pPr marL="228600" lvl="0" indent="-228600" algn="ctr"/>
            <a:r>
              <a:rPr lang="en-US" noProof="0"/>
              <a:t>Subtitle</a:t>
            </a:r>
            <a:endParaRPr lang="en-US" noProof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4641140" y="5795479"/>
            <a:ext cx="2915816" cy="258532"/>
          </a:xfrm>
        </p:spPr>
        <p:txBody>
          <a:bodyPr vert="horz" wrap="square" lIns="91440" tIns="45720" rIns="91440" bIns="45720" rtlCol="0" anchor="ctr" anchorCtr="1">
            <a:spAutoFit/>
          </a:bodyPr>
          <a:lstStyle>
            <a:lvl1pPr marL="0" indent="0">
              <a:buNone/>
              <a:defRPr lang="en-US" sz="1200" b="0" spc="300" smtClean="0">
                <a:solidFill>
                  <a:schemeClr val="bg1"/>
                </a:solidFill>
                <a:latin typeface="+mn-lt"/>
                <a:cs typeface="Arial" panose="020B0704020202020204" pitchFamily="34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marL="228600" lvl="0" indent="-228600" algn="ctr"/>
            <a:r>
              <a:rPr lang="en-US" noProof="0"/>
              <a:t>Date</a:t>
            </a:r>
            <a:endParaRPr lang="en-US" noProof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2880"/>
            <a:ext cx="11443952" cy="613669"/>
          </a:xfrm>
        </p:spPr>
        <p:txBody>
          <a:bodyPr/>
          <a:lstStyle>
            <a:lvl1pPr>
              <a:defRPr sz="36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B90B671-065E-4448-BE7B-D05EE0A15BF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4C43EF5-915E-44F5-8A7D-B3B5F01C034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image" Target="../media/image12.jpeg"/><Relationship Id="rId2" Type="http://schemas.openxmlformats.org/officeDocument/2006/relationships/slideLayout" Target="../slideLayouts/slideLayout13.xml"/><Relationship Id="rId19" Type="http://schemas.openxmlformats.org/officeDocument/2006/relationships/image" Target="../media/image14.png"/><Relationship Id="rId18" Type="http://schemas.openxmlformats.org/officeDocument/2006/relationships/image" Target="../media/image9.jpeg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09669"/>
            <a:ext cx="12192000" cy="624824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screen"/>
          <a:stretch>
            <a:fillRect/>
          </a:stretch>
        </p:blipFill>
        <p:spPr>
          <a:xfrm>
            <a:off x="9235" y="0"/>
            <a:ext cx="1286905" cy="51690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4" cstate="screen"/>
          <a:stretch>
            <a:fillRect/>
          </a:stretch>
        </p:blipFill>
        <p:spPr>
          <a:xfrm>
            <a:off x="11274641" y="2539"/>
            <a:ext cx="908123" cy="683130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0" y="4396509"/>
            <a:ext cx="12192000" cy="2461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5686418"/>
            <a:ext cx="12192000" cy="117476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3D5A4EF-1F3B-47FB-989C-DF517E83439D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4887472-B4D1-4FB1-94B3-CA6A0315C4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953"/>
          <a:stretch>
            <a:fillRect/>
          </a:stretch>
        </p:blipFill>
        <p:spPr>
          <a:xfrm>
            <a:off x="0" y="6374675"/>
            <a:ext cx="12182458" cy="4833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03" b="13359"/>
          <a:stretch>
            <a:fillRect/>
          </a:stretch>
        </p:blipFill>
        <p:spPr>
          <a:xfrm>
            <a:off x="144910" y="6435634"/>
            <a:ext cx="1443528" cy="422366"/>
          </a:xfrm>
          <a:prstGeom prst="rect">
            <a:avLst/>
          </a:prstGeom>
        </p:spPr>
      </p:pic>
      <p:grpSp>
        <p:nvGrpSpPr>
          <p:cNvPr id="10" name="Group 9"/>
          <p:cNvGrpSpPr/>
          <p:nvPr userDrawn="1"/>
        </p:nvGrpSpPr>
        <p:grpSpPr>
          <a:xfrm>
            <a:off x="8629745" y="6435634"/>
            <a:ext cx="3263009" cy="276999"/>
            <a:chOff x="8629745" y="6435634"/>
            <a:chExt cx="3263009" cy="276999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8629745" y="6435634"/>
              <a:ext cx="32630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www.tnicorporation.com        @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kingcoffeeglobal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2" name="Picture 11"/>
            <p:cNvPicPr>
              <a:picLocks noChangeAspect="1"/>
            </p:cNvPicPr>
            <p:nvPr userDrawn="1"/>
          </p:nvPicPr>
          <p:blipFill rotWithShape="1">
            <a:blip r:embed="rId20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35" t="12717" r="13835" b="16984"/>
            <a:stretch>
              <a:fillRect/>
            </a:stretch>
          </p:blipFill>
          <p:spPr>
            <a:xfrm>
              <a:off x="10344927" y="6490084"/>
              <a:ext cx="171567" cy="166748"/>
            </a:xfrm>
            <a:prstGeom prst="rect">
              <a:avLst/>
            </a:prstGeom>
          </p:spPr>
        </p:pic>
      </p:grpSp>
      <p:cxnSp>
        <p:nvCxnSpPr>
          <p:cNvPr id="22" name="Straight Connector 21"/>
          <p:cNvCxnSpPr/>
          <p:nvPr userDrawn="1"/>
        </p:nvCxnSpPr>
        <p:spPr>
          <a:xfrm>
            <a:off x="10298630" y="6497254"/>
            <a:ext cx="0" cy="14275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 cstate="screen"/>
          <a:srcRect/>
          <a:stretch>
            <a:fillRect/>
          </a:stretch>
        </p:blipFill>
        <p:spPr>
          <a:xfrm>
            <a:off x="-1" y="0"/>
            <a:ext cx="12192001" cy="6867236"/>
          </a:xfrm>
          <a:prstGeom prst="rect">
            <a:avLst/>
          </a:prstGeom>
        </p:spPr>
      </p:pic>
      <p:sp>
        <p:nvSpPr>
          <p:cNvPr id="8" name="Google Shape;190;p1"/>
          <p:cNvSpPr txBox="1"/>
          <p:nvPr/>
        </p:nvSpPr>
        <p:spPr>
          <a:xfrm>
            <a:off x="1905406" y="2548073"/>
            <a:ext cx="8456623" cy="2090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>
              <a:lnSpc>
                <a:spcPct val="220000"/>
              </a:lnSpc>
              <a:buClr>
                <a:srgbClr val="FFFFFF"/>
              </a:buClr>
              <a:buSzPts val="1800"/>
              <a:defRPr/>
            </a:pPr>
            <a:r>
              <a:rPr lang="en-US" sz="7200" kern="0" dirty="0">
                <a:solidFill>
                  <a:schemeClr val="bg1"/>
                </a:solidFill>
                <a:latin typeface="Arial Regular" panose="020B0704020202020204" charset="0"/>
                <a:ea typeface="Cambria"/>
                <a:cs typeface="Arial Regular" panose="020B0704020202020204" charset="0"/>
                <a:sym typeface="Cambria"/>
              </a:rPr>
              <a:t>NỘI DUNG: </a:t>
            </a:r>
            <a:endParaRPr lang="en-US" sz="7200" kern="0" dirty="0">
              <a:solidFill>
                <a:schemeClr val="bg1"/>
              </a:solidFill>
              <a:latin typeface="Arial Regular" panose="020B0704020202020204" charset="0"/>
              <a:ea typeface="Cambria"/>
              <a:cs typeface="Arial Regular" panose="020B0704020202020204" charset="0"/>
              <a:sym typeface="Cambria"/>
            </a:endParaRPr>
          </a:p>
          <a:p>
            <a:pPr>
              <a:lnSpc>
                <a:spcPct val="220000"/>
              </a:lnSpc>
              <a:buClr>
                <a:srgbClr val="FFFFFF"/>
              </a:buClr>
              <a:buSzPts val="1800"/>
              <a:defRPr/>
            </a:pPr>
            <a:r>
              <a:rPr lang="en-US" sz="7200" kern="0" dirty="0">
                <a:solidFill>
                  <a:schemeClr val="bg1"/>
                </a:solidFill>
                <a:latin typeface="Arial Regular" panose="020B0704020202020204" charset="0"/>
                <a:cs typeface="Arial Regular" panose="020B0704020202020204" charset="0"/>
                <a:sym typeface="Cambria"/>
              </a:rPr>
              <a:t>1. </a:t>
            </a:r>
            <a:r>
              <a:rPr lang="en-US" sz="7200" kern="0" dirty="0" err="1">
                <a:solidFill>
                  <a:schemeClr val="bg1"/>
                </a:solidFill>
                <a:latin typeface="Arial Regular" panose="020B0704020202020204" charset="0"/>
                <a:cs typeface="Arial Regular" panose="020B0704020202020204" charset="0"/>
                <a:sym typeface="Cambria"/>
              </a:rPr>
              <a:t>Báo</a:t>
            </a:r>
            <a:r>
              <a:rPr lang="en-US" sz="7200" kern="0" dirty="0">
                <a:solidFill>
                  <a:schemeClr val="bg1"/>
                </a:solidFill>
                <a:latin typeface="Arial Regular" panose="020B0704020202020204" charset="0"/>
                <a:cs typeface="Arial Regular" panose="020B0704020202020204" charset="0"/>
                <a:sym typeface="Cambria"/>
              </a:rPr>
              <a:t> </a:t>
            </a:r>
            <a:r>
              <a:rPr lang="en-US" sz="7200" kern="0" dirty="0" err="1">
                <a:solidFill>
                  <a:schemeClr val="bg1"/>
                </a:solidFill>
                <a:latin typeface="Arial Regular" panose="020B0704020202020204" charset="0"/>
                <a:cs typeface="Arial Regular" panose="020B0704020202020204" charset="0"/>
                <a:sym typeface="Cambria"/>
              </a:rPr>
              <a:t>cáo</a:t>
            </a:r>
            <a:r>
              <a:rPr lang="en-US" sz="7200" kern="0" dirty="0">
                <a:solidFill>
                  <a:schemeClr val="bg1"/>
                </a:solidFill>
                <a:latin typeface="Arial Regular" panose="020B0704020202020204" charset="0"/>
                <a:cs typeface="Arial Regular" panose="020B0704020202020204" charset="0"/>
                <a:sym typeface="Cambria"/>
              </a:rPr>
              <a:t> </a:t>
            </a:r>
            <a:r>
              <a:rPr lang="vi-VN" altLang="en-US" sz="7200" kern="0" dirty="0">
                <a:solidFill>
                  <a:schemeClr val="bg1"/>
                </a:solidFill>
                <a:latin typeface="Arial Regular" panose="020B0704020202020204" charset="0"/>
                <a:cs typeface="Arial Regular" panose="020B0704020202020204" charset="0"/>
                <a:sym typeface="Cambria"/>
              </a:rPr>
              <a:t>công </a:t>
            </a:r>
            <a:r>
              <a:rPr lang="vi-VN" altLang="en-US" sz="7200" kern="0">
                <a:solidFill>
                  <a:schemeClr val="bg1"/>
                </a:solidFill>
                <a:latin typeface="Arial Regular" panose="020B0704020202020204" charset="0"/>
                <a:cs typeface="Arial Regular" panose="020B0704020202020204" charset="0"/>
                <a:sym typeface="Cambria"/>
              </a:rPr>
              <a:t>việc</a:t>
            </a:r>
            <a:r>
              <a:rPr lang="en-US" altLang="en-US" sz="7200" kern="0">
                <a:solidFill>
                  <a:schemeClr val="bg1"/>
                </a:solidFill>
                <a:latin typeface="Arial Regular" panose="020B0704020202020204" charset="0"/>
                <a:cs typeface="Arial Regular" panose="020B0704020202020204" charset="0"/>
                <a:sym typeface="Cambria"/>
              </a:rPr>
              <a:t> 08</a:t>
            </a:r>
            <a:r>
              <a:rPr lang="en-US" sz="7200" kern="0">
                <a:solidFill>
                  <a:schemeClr val="bg1"/>
                </a:solidFill>
                <a:latin typeface="Arial Regular" panose="020B0704020202020204" charset="0"/>
                <a:cs typeface="Arial Regular" panose="020B0704020202020204" charset="0"/>
                <a:sym typeface="Cambria"/>
              </a:rPr>
              <a:t>.202</a:t>
            </a:r>
            <a:r>
              <a:rPr lang="vi-VN" sz="7200" kern="0" dirty="0">
                <a:solidFill>
                  <a:schemeClr val="bg1"/>
                </a:solidFill>
                <a:latin typeface="Arial Regular" panose="020B0704020202020204" charset="0"/>
                <a:cs typeface="Arial Regular" panose="020B0704020202020204" charset="0"/>
                <a:sym typeface="Cambria"/>
              </a:rPr>
              <a:t>6</a:t>
            </a:r>
            <a:endParaRPr lang="en-US" sz="7200" kern="0" dirty="0">
              <a:solidFill>
                <a:schemeClr val="bg1"/>
              </a:solidFill>
              <a:latin typeface="Arial Regular" panose="020B0704020202020204" charset="0"/>
              <a:cs typeface="Arial Regular" panose="020B0704020202020204" charset="0"/>
              <a:sym typeface="Cambria"/>
            </a:endParaRPr>
          </a:p>
          <a:p>
            <a:pPr>
              <a:lnSpc>
                <a:spcPct val="220000"/>
              </a:lnSpc>
              <a:buClr>
                <a:srgbClr val="FFFFFF"/>
              </a:buClr>
              <a:buSzPts val="1800"/>
              <a:defRPr/>
            </a:pPr>
            <a:r>
              <a:rPr lang="en-US" sz="7200" kern="0" dirty="0">
                <a:solidFill>
                  <a:schemeClr val="bg1"/>
                </a:solidFill>
                <a:latin typeface="Arial Regular" panose="020B0704020202020204" charset="0"/>
                <a:cs typeface="Arial Regular" panose="020B0704020202020204" charset="0"/>
                <a:sym typeface="Cambria"/>
              </a:rPr>
              <a:t>2. </a:t>
            </a:r>
            <a:r>
              <a:rPr lang="en-US" sz="7200" kern="0" dirty="0" err="1">
                <a:solidFill>
                  <a:schemeClr val="bg1"/>
                </a:solidFill>
                <a:latin typeface="Arial Regular" panose="020B0704020202020204" charset="0"/>
                <a:ea typeface="Cambria"/>
                <a:cs typeface="Arial Regular" panose="020B0704020202020204" charset="0"/>
                <a:sym typeface="Cambria"/>
              </a:rPr>
              <a:t>Kế</a:t>
            </a:r>
            <a:r>
              <a:rPr lang="en-US" sz="7200" kern="0" dirty="0">
                <a:solidFill>
                  <a:schemeClr val="bg1"/>
                </a:solidFill>
                <a:latin typeface="Arial Regular" panose="020B0704020202020204" charset="0"/>
                <a:ea typeface="Cambria"/>
                <a:cs typeface="Arial Regular" panose="020B0704020202020204" charset="0"/>
                <a:sym typeface="Cambria"/>
              </a:rPr>
              <a:t> </a:t>
            </a:r>
            <a:r>
              <a:rPr lang="en-US" sz="7200" kern="0" dirty="0" err="1">
                <a:solidFill>
                  <a:schemeClr val="bg1"/>
                </a:solidFill>
                <a:latin typeface="Arial Regular" panose="020B0704020202020204" charset="0"/>
                <a:ea typeface="Cambria"/>
                <a:cs typeface="Arial Regular" panose="020B0704020202020204" charset="0"/>
                <a:sym typeface="Cambria"/>
              </a:rPr>
              <a:t>hoạch</a:t>
            </a:r>
            <a:r>
              <a:rPr lang="en-US" sz="7200" kern="0" dirty="0">
                <a:solidFill>
                  <a:schemeClr val="bg1"/>
                </a:solidFill>
                <a:latin typeface="Arial Regular" panose="020B0704020202020204" charset="0"/>
                <a:ea typeface="Cambria"/>
                <a:cs typeface="Arial Regular" panose="020B0704020202020204" charset="0"/>
                <a:sym typeface="Cambria"/>
              </a:rPr>
              <a:t> </a:t>
            </a:r>
            <a:r>
              <a:rPr lang="vi-VN" altLang="en-US" sz="7200" kern="0" dirty="0">
                <a:solidFill>
                  <a:schemeClr val="bg1"/>
                </a:solidFill>
                <a:latin typeface="Arial Regular" panose="020B0704020202020204" charset="0"/>
                <a:ea typeface="Cambria"/>
                <a:cs typeface="Arial Regular" panose="020B0704020202020204" charset="0"/>
                <a:sym typeface="Cambria"/>
              </a:rPr>
              <a:t>công </a:t>
            </a:r>
            <a:r>
              <a:rPr lang="vi-VN" altLang="en-US" sz="7200" kern="0">
                <a:solidFill>
                  <a:schemeClr val="bg1"/>
                </a:solidFill>
                <a:latin typeface="Arial Regular" panose="020B0704020202020204" charset="0"/>
                <a:ea typeface="Cambria"/>
                <a:cs typeface="Arial Regular" panose="020B0704020202020204" charset="0"/>
                <a:sym typeface="Cambria"/>
              </a:rPr>
              <a:t>việc</a:t>
            </a:r>
            <a:r>
              <a:rPr lang="en-US" sz="7200" kern="0">
                <a:solidFill>
                  <a:schemeClr val="bg1"/>
                </a:solidFill>
                <a:latin typeface="Arial Regular" panose="020B0704020202020204" charset="0"/>
                <a:ea typeface="Cambria"/>
                <a:cs typeface="Arial Regular" panose="020B0704020202020204" charset="0"/>
                <a:sym typeface="Cambria"/>
              </a:rPr>
              <a:t> 09.202</a:t>
            </a:r>
            <a:r>
              <a:rPr lang="vi-VN" sz="7200" kern="0" dirty="0">
                <a:solidFill>
                  <a:schemeClr val="bg1"/>
                </a:solidFill>
                <a:latin typeface="Arial Regular" panose="020B0704020202020204" charset="0"/>
                <a:ea typeface="Cambria"/>
                <a:cs typeface="Arial Regular" panose="020B0704020202020204" charset="0"/>
                <a:sym typeface="Cambria"/>
              </a:rPr>
              <a:t>6</a:t>
            </a:r>
            <a:endParaRPr lang="en-US" sz="7200" kern="0" dirty="0">
              <a:solidFill>
                <a:schemeClr val="bg1"/>
              </a:solidFill>
              <a:latin typeface="Arial Regular" panose="020B0704020202020204" charset="0"/>
              <a:cs typeface="Arial Regular" panose="020B0704020202020204" charset="0"/>
              <a:sym typeface="Arial" panose="020B0704020202020204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rgbClr val="FFFFFF"/>
              </a:buClr>
              <a:buSzPts val="1400"/>
              <a:defRPr/>
            </a:pPr>
            <a:endParaRPr lang="en-US" sz="7200" kern="0" dirty="0">
              <a:solidFill>
                <a:schemeClr val="bg1"/>
              </a:solidFill>
              <a:latin typeface="Arial Regular" panose="020B0704020202020204" charset="0"/>
              <a:cs typeface="Arial Regular" panose="020B0704020202020204" charset="0"/>
              <a:sym typeface="Arial" panose="020B0704020202020204"/>
            </a:endParaRPr>
          </a:p>
        </p:txBody>
      </p:sp>
      <p:sp>
        <p:nvSpPr>
          <p:cNvPr id="11" name="Google Shape;191;p1"/>
          <p:cNvSpPr txBox="1"/>
          <p:nvPr/>
        </p:nvSpPr>
        <p:spPr>
          <a:xfrm>
            <a:off x="2303504" y="6087580"/>
            <a:ext cx="7584989" cy="647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algn="ctr">
              <a:lnSpc>
                <a:spcPct val="150000"/>
              </a:lnSpc>
              <a:buClr>
                <a:srgbClr val="FFFFFF"/>
              </a:buClr>
              <a:buSzPts val="1600"/>
              <a:defRPr/>
            </a:pPr>
            <a:r>
              <a:rPr lang="en-US" sz="1400" kern="0" dirty="0">
                <a:solidFill>
                  <a:schemeClr val="bg1"/>
                </a:solidFill>
                <a:latin typeface="Arial Regular" panose="020B0704020202020204" charset="0"/>
                <a:ea typeface="Cambria"/>
                <a:cs typeface="Arial Regular" panose="020B0704020202020204" charset="0"/>
                <a:sym typeface="Cambria"/>
              </a:rPr>
              <a:t>IT Department.</a:t>
            </a:r>
            <a:endParaRPr lang="en-US" sz="1400" kern="0" dirty="0">
              <a:solidFill>
                <a:schemeClr val="bg1"/>
              </a:solidFill>
              <a:latin typeface="Arial Regular" panose="020B0704020202020204" charset="0"/>
              <a:ea typeface="Cambria"/>
              <a:cs typeface="Arial Regular" panose="020B0704020202020204" charset="0"/>
              <a:sym typeface="Cambria"/>
            </a:endParaRPr>
          </a:p>
          <a:p>
            <a:pPr algn="ctr">
              <a:lnSpc>
                <a:spcPct val="150000"/>
              </a:lnSpc>
              <a:buClr>
                <a:srgbClr val="FFFFFF"/>
              </a:buClr>
              <a:buSzPts val="1600"/>
              <a:defRPr/>
            </a:pPr>
            <a:r>
              <a:rPr lang="en-US" sz="1400" kern="0" dirty="0">
                <a:solidFill>
                  <a:schemeClr val="bg1"/>
                </a:solidFill>
                <a:latin typeface="Arial Regular" panose="020B0704020202020204" charset="0"/>
                <a:ea typeface="Cambria"/>
                <a:cs typeface="Arial Regular" panose="020B0704020202020204" charset="0"/>
                <a:sym typeface="Cambria"/>
              </a:rPr>
              <a:t>Thành </a:t>
            </a:r>
            <a:r>
              <a:rPr lang="en-US" sz="1400" kern="0" dirty="0" err="1">
                <a:solidFill>
                  <a:schemeClr val="bg1"/>
                </a:solidFill>
                <a:latin typeface="Arial Regular" panose="020B0704020202020204" charset="0"/>
                <a:ea typeface="Cambria"/>
                <a:cs typeface="Arial Regular" panose="020B0704020202020204" charset="0"/>
                <a:sym typeface="Cambria"/>
              </a:rPr>
              <a:t>phố</a:t>
            </a:r>
            <a:r>
              <a:rPr lang="en-US" sz="1400" kern="0" dirty="0">
                <a:solidFill>
                  <a:schemeClr val="bg1"/>
                </a:solidFill>
                <a:latin typeface="Arial Regular" panose="020B0704020202020204" charset="0"/>
                <a:ea typeface="Cambria"/>
                <a:cs typeface="Arial Regular" panose="020B0704020202020204" charset="0"/>
                <a:sym typeface="Cambria"/>
              </a:rPr>
              <a:t> </a:t>
            </a:r>
            <a:r>
              <a:rPr lang="en-US" sz="1400" kern="0" dirty="0" err="1">
                <a:solidFill>
                  <a:schemeClr val="bg1"/>
                </a:solidFill>
                <a:latin typeface="Arial Regular" panose="020B0704020202020204" charset="0"/>
                <a:ea typeface="Cambria"/>
                <a:cs typeface="Arial Regular" panose="020B0704020202020204" charset="0"/>
                <a:sym typeface="Cambria"/>
              </a:rPr>
              <a:t>Hồ</a:t>
            </a:r>
            <a:r>
              <a:rPr lang="en-US" sz="1400" kern="0" dirty="0">
                <a:solidFill>
                  <a:schemeClr val="bg1"/>
                </a:solidFill>
                <a:latin typeface="Arial Regular" panose="020B0704020202020204" charset="0"/>
                <a:ea typeface="Cambria"/>
                <a:cs typeface="Arial Regular" panose="020B0704020202020204" charset="0"/>
                <a:sym typeface="Cambria"/>
              </a:rPr>
              <a:t> Chí Minh</a:t>
            </a:r>
            <a:r>
              <a:rPr lang="en-US" sz="1400" kern="0">
                <a:solidFill>
                  <a:schemeClr val="bg1"/>
                </a:solidFill>
                <a:latin typeface="Arial Regular" panose="020B0704020202020204" charset="0"/>
                <a:ea typeface="Cambria"/>
                <a:cs typeface="Arial Regular" panose="020B0704020202020204" charset="0"/>
                <a:sym typeface="Cambria"/>
              </a:rPr>
              <a:t>, 0</a:t>
            </a:r>
            <a:r>
              <a:rPr lang="vi-VN" altLang="en-US" sz="1400" kern="0">
                <a:solidFill>
                  <a:schemeClr val="bg1"/>
                </a:solidFill>
                <a:latin typeface="Arial Regular" panose="020B0704020202020204" charset="0"/>
                <a:ea typeface="Cambria"/>
                <a:cs typeface="Arial Regular" panose="020B0704020202020204" charset="0"/>
                <a:sym typeface="Cambria"/>
              </a:rPr>
              <a:t>5</a:t>
            </a:r>
            <a:r>
              <a:rPr lang="en-US" sz="1400" kern="0">
                <a:solidFill>
                  <a:schemeClr val="bg1"/>
                </a:solidFill>
                <a:latin typeface="Arial Regular" panose="020B0704020202020204" charset="0"/>
                <a:ea typeface="Cambria"/>
                <a:cs typeface="Arial Regular" panose="020B0704020202020204" charset="0"/>
                <a:sym typeface="Cambria"/>
              </a:rPr>
              <a:t>.202</a:t>
            </a:r>
            <a:r>
              <a:rPr lang="vi-VN" sz="1400" kern="0" dirty="0">
                <a:solidFill>
                  <a:schemeClr val="bg1"/>
                </a:solidFill>
                <a:latin typeface="Arial Regular" panose="020B0704020202020204" charset="0"/>
                <a:ea typeface="Cambria"/>
                <a:cs typeface="Arial Regular" panose="020B0704020202020204" charset="0"/>
                <a:sym typeface="Cambria"/>
              </a:rPr>
              <a:t>6</a:t>
            </a:r>
            <a:endParaRPr lang="en-US" sz="1400" kern="0" dirty="0">
              <a:solidFill>
                <a:schemeClr val="bg1"/>
              </a:solidFill>
              <a:latin typeface="Arial Regular" panose="020B0704020202020204" charset="0"/>
              <a:cs typeface="Arial Regular" panose="020B0704020202020204" charset="0"/>
              <a:sym typeface="Arial" panose="020B0704020202020204"/>
            </a:endParaRPr>
          </a:p>
          <a:p>
            <a:pPr algn="ctr">
              <a:lnSpc>
                <a:spcPct val="90000"/>
              </a:lnSpc>
              <a:buClr>
                <a:srgbClr val="FFFFFF"/>
              </a:buClr>
              <a:buSzPts val="1600"/>
              <a:defRPr/>
            </a:pPr>
            <a:endParaRPr lang="en-US" sz="1400" kern="0" dirty="0">
              <a:solidFill>
                <a:schemeClr val="bg1"/>
              </a:solidFill>
              <a:latin typeface="Arial Regular" panose="020B0704020202020204" charset="0"/>
              <a:cs typeface="Arial Regular" panose="020B0704020202020204" charset="0"/>
              <a:sym typeface="Arial" panose="020B07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2117" y="1211313"/>
            <a:ext cx="11474244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rial Regular" panose="020B0704020202020204" charset="0"/>
                <a:cs typeface="Arial Regular" panose="020B0704020202020204" charset="0"/>
              </a:rPr>
              <a:t>BÁO CÁO CÔNG VIỆC</a:t>
            </a:r>
            <a:endParaRPr lang="en-US" sz="2800" dirty="0">
              <a:solidFill>
                <a:schemeClr val="bg1"/>
              </a:solidFill>
              <a:latin typeface="Arial Regular" panose="020B0704020202020204" charset="0"/>
              <a:cs typeface="Arial Regular" panose="020B0704020202020204" charset="0"/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Arial Regular" panose="020B0704020202020204" charset="0"/>
                <a:cs typeface="Arial Regular" panose="020B0704020202020204" charset="0"/>
              </a:rPr>
              <a:t>IT</a:t>
            </a:r>
            <a:endParaRPr lang="en-US" sz="2800" dirty="0">
              <a:solidFill>
                <a:schemeClr val="bg1"/>
              </a:solidFill>
              <a:latin typeface="Arial Regular" panose="020B0704020202020204" charset="0"/>
              <a:cs typeface="Arial Regular" panose="020B07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9;p2"/>
          <p:cNvSpPr txBox="1"/>
          <p:nvPr/>
        </p:nvSpPr>
        <p:spPr>
          <a:xfrm>
            <a:off x="125373" y="542829"/>
            <a:ext cx="7710560" cy="324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Font typeface="Raleway SemiBold"/>
              <a:buNone/>
              <a:defRPr/>
            </a:pPr>
            <a:r>
              <a:rPr kumimoji="0" lang="en-US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1</a:t>
            </a:r>
            <a:r>
              <a:rPr kumimoji="0" lang="vi-V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.</a:t>
            </a:r>
            <a:r>
              <a:rPr kumimoji="0" lang="en-US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 </a:t>
            </a:r>
            <a:r>
              <a:rPr kumimoji="0" lang="vi-V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CÁC CÔNG VIỆC ĐÃ</a:t>
            </a:r>
            <a:r>
              <a:rPr kumimoji="0" lang="en-US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 </a:t>
            </a:r>
            <a:r>
              <a:rPr kumimoji="0" lang="vi-V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HOÀN THÀNH </a:t>
            </a:r>
            <a:r>
              <a:rPr kumimoji="0" lang="en-US" altLang="en-US" sz="200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THÁNG </a:t>
            </a:r>
            <a:r>
              <a:rPr lang="vi-VN" altLang="en-US" sz="2000" kern="0">
                <a:solidFill>
                  <a:srgbClr val="0070C0"/>
                </a:solidFill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0</a:t>
            </a:r>
            <a:r>
              <a:rPr lang="en-US" altLang="vi-VN" sz="2000" kern="0">
                <a:solidFill>
                  <a:srgbClr val="0070C0"/>
                </a:solidFill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8</a:t>
            </a:r>
            <a:r>
              <a:rPr lang="en-US" altLang="en-US" sz="2000" kern="0">
                <a:solidFill>
                  <a:srgbClr val="0070C0"/>
                </a:solidFill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.</a:t>
            </a:r>
            <a:r>
              <a:rPr kumimoji="0" lang="en-US" altLang="en-US" sz="200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202</a:t>
            </a:r>
            <a:r>
              <a:rPr lang="vi-VN" altLang="en-US" sz="2000" kern="0" dirty="0">
                <a:solidFill>
                  <a:srgbClr val="0070C0"/>
                </a:solidFill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6</a:t>
            </a:r>
            <a:endParaRPr kumimoji="0" lang="vi-VN" altLang="en-US" sz="200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 Regular" panose="020B0704020202020204" charset="0"/>
              <a:ea typeface="Tahoma" panose="020B0804030504040204"/>
              <a:cs typeface="Arial Regular" panose="020B0704020202020204" charset="0"/>
              <a:sym typeface="Tahoma" panose="020B0804030504040204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253865" y="5995035"/>
            <a:ext cx="2687320" cy="3244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vi-VN" altLang="en-US"/>
              <a:t>Hình ảnh về hệ thốn</a:t>
            </a:r>
            <a:r>
              <a:rPr lang="en-US" altLang="vi-VN"/>
              <a:t>g</a:t>
            </a:r>
            <a:endParaRPr lang="en-US" altLang="vi-VN"/>
          </a:p>
        </p:txBody>
      </p:sp>
      <p:sp>
        <p:nvSpPr>
          <p:cNvPr id="8" name="Text Box 7"/>
          <p:cNvSpPr txBox="1"/>
          <p:nvPr/>
        </p:nvSpPr>
        <p:spPr>
          <a:xfrm>
            <a:off x="419735" y="903605"/>
            <a:ext cx="11616055" cy="1421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charset="0"/>
              <a:buChar char=""/>
            </a:pPr>
            <a:r>
              <a:rPr lang="en-US" altLang="en-US" sz="1200">
                <a:latin typeface="Arial Regular" panose="020B0704020202020204" charset="0"/>
                <a:cs typeface="Arial Regular" panose="020B0704020202020204" charset="0"/>
                <a:sym typeface="+mn-ea"/>
              </a:rPr>
              <a:t>Tối ưu hoá dự án Smart lms</a:t>
            </a:r>
            <a:endParaRPr lang="en-US" altLang="en-US" sz="1200">
              <a:latin typeface="Arial Regular" panose="020B0704020202020204" charset="0"/>
              <a:cs typeface="Arial Regular" panose="020B0704020202020204" charset="0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"/>
            </a:pPr>
            <a:r>
              <a:rPr lang="en-US" altLang="en-US" sz="1200">
                <a:latin typeface="Arial Regular" panose="020B0704020202020204" charset="0"/>
                <a:cs typeface="Arial Regular" panose="020B0704020202020204" charset="0"/>
                <a:sym typeface="+mn-ea"/>
              </a:rPr>
              <a:t>Tối ưu hoá gia diện lms scan farbic </a:t>
            </a:r>
            <a:endParaRPr lang="en-US" altLang="en-US" sz="1200">
              <a:latin typeface="Arial Regular" panose="020B0704020202020204" charset="0"/>
              <a:cs typeface="Arial Regular" panose="020B0704020202020204" charset="0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"/>
            </a:pPr>
            <a:r>
              <a:rPr lang="en-US" altLang="en-US" sz="1200">
                <a:latin typeface="Arial Regular" panose="020B0704020202020204" charset="0"/>
                <a:cs typeface="Arial Regular" panose="020B0704020202020204" charset="0"/>
                <a:sym typeface="+mn-ea"/>
              </a:rPr>
              <a:t>Triển khai mạng Blockchain lên Ecosystem </a:t>
            </a:r>
            <a:endParaRPr lang="en-US" altLang="en-US" sz="1200">
              <a:latin typeface="Arial Regular" panose="020B0704020202020204" charset="0"/>
              <a:cs typeface="Arial Regular" panose="020B0704020202020204" charset="0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"/>
            </a:pPr>
            <a:endParaRPr lang="en-US" altLang="en-US" sz="1200">
              <a:latin typeface="Arial Regular" panose="020B0704020202020204" charset="0"/>
              <a:cs typeface="Arial Regular" panose="020B0704020202020204" charset="0"/>
              <a:sym typeface="+mn-ea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710" y="2774950"/>
            <a:ext cx="5574665" cy="296672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460" y="1574800"/>
            <a:ext cx="4070985" cy="41668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9;p2"/>
          <p:cNvSpPr txBox="1"/>
          <p:nvPr/>
        </p:nvSpPr>
        <p:spPr>
          <a:xfrm>
            <a:off x="125373" y="542829"/>
            <a:ext cx="7710560" cy="324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Font typeface="Raleway SemiBold"/>
              <a:buNone/>
              <a:defRPr/>
            </a:pPr>
            <a:r>
              <a:rPr kumimoji="0" lang="en-US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1</a:t>
            </a:r>
            <a:r>
              <a:rPr kumimoji="0" lang="vi-V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.</a:t>
            </a:r>
            <a:r>
              <a:rPr kumimoji="0" lang="en-US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 </a:t>
            </a:r>
            <a:r>
              <a:rPr kumimoji="0" lang="vi-V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CÁC CÔNG VIỆC ĐÃ</a:t>
            </a:r>
            <a:r>
              <a:rPr kumimoji="0" lang="en-US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 </a:t>
            </a:r>
            <a:r>
              <a:rPr kumimoji="0" lang="vi-V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HOÀN THÀNH </a:t>
            </a:r>
            <a:r>
              <a:rPr kumimoji="0" lang="en-US" altLang="en-US" sz="200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THÁNG </a:t>
            </a:r>
            <a:r>
              <a:rPr lang="vi-VN" altLang="en-US" sz="2000" kern="0">
                <a:solidFill>
                  <a:srgbClr val="0070C0"/>
                </a:solidFill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0</a:t>
            </a:r>
            <a:r>
              <a:rPr lang="en-US" altLang="vi-VN" sz="2000" kern="0">
                <a:solidFill>
                  <a:srgbClr val="0070C0"/>
                </a:solidFill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8</a:t>
            </a:r>
            <a:r>
              <a:rPr lang="en-US" altLang="en-US" sz="2000" kern="0">
                <a:solidFill>
                  <a:srgbClr val="0070C0"/>
                </a:solidFill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.</a:t>
            </a:r>
            <a:r>
              <a:rPr kumimoji="0" lang="en-US" altLang="en-US" sz="200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202</a:t>
            </a:r>
            <a:r>
              <a:rPr lang="vi-VN" altLang="en-US" sz="2000" kern="0" dirty="0">
                <a:solidFill>
                  <a:srgbClr val="0070C0"/>
                </a:solidFill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6</a:t>
            </a:r>
            <a:endParaRPr kumimoji="0" lang="vi-VN" altLang="en-US" sz="200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 Regular" panose="020B0704020202020204" charset="0"/>
              <a:ea typeface="Tahoma" panose="020B0804030504040204"/>
              <a:cs typeface="Arial Regular" panose="020B0704020202020204" charset="0"/>
              <a:sym typeface="Tahoma" panose="020B0804030504040204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253865" y="5995035"/>
            <a:ext cx="2687320" cy="3244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vi-VN" altLang="en-US"/>
              <a:t>Hình ảnh về hệ thốn</a:t>
            </a:r>
            <a:r>
              <a:rPr lang="en-US" altLang="vi-VN"/>
              <a:t>g</a:t>
            </a:r>
            <a:endParaRPr lang="en-US" altLang="vi-VN"/>
          </a:p>
        </p:txBody>
      </p:sp>
      <p:sp>
        <p:nvSpPr>
          <p:cNvPr id="8" name="Text Box 7"/>
          <p:cNvSpPr txBox="1"/>
          <p:nvPr/>
        </p:nvSpPr>
        <p:spPr>
          <a:xfrm>
            <a:off x="419735" y="903605"/>
            <a:ext cx="11616055" cy="1421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charset="0"/>
              <a:buChar char=""/>
            </a:pPr>
            <a:r>
              <a:rPr lang="en-US" altLang="en-US" sz="1200">
                <a:latin typeface="Arial Regular" panose="020B0704020202020204" charset="0"/>
                <a:cs typeface="Arial Regular" panose="020B0704020202020204" charset="0"/>
                <a:sym typeface="+mn-ea"/>
              </a:rPr>
              <a:t>Rà soát quyền truy cập page, tài khoản mạng xã hội</a:t>
            </a:r>
            <a:endParaRPr lang="en-US" altLang="en-US" sz="1200">
              <a:latin typeface="Arial Regular" panose="020B0704020202020204" charset="0"/>
              <a:cs typeface="Arial Regular" panose="020B0704020202020204" charset="0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"/>
            </a:pPr>
            <a:r>
              <a:rPr lang="en-US" altLang="en-US" sz="1200">
                <a:latin typeface="Arial Regular" panose="020B0704020202020204" charset="0"/>
                <a:cs typeface="Arial Regular" panose="020B0704020202020204" charset="0"/>
                <a:sym typeface="+mn-ea"/>
              </a:rPr>
              <a:t>Rà soát vs thay đổi thông tin toàn bộ website </a:t>
            </a:r>
            <a:endParaRPr lang="en-US" altLang="en-US" sz="1200">
              <a:latin typeface="Arial Regular" panose="020B0704020202020204" charset="0"/>
              <a:cs typeface="Arial Regular" panose="020B0704020202020204" charset="0"/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995" y="1635760"/>
            <a:ext cx="9150350" cy="43592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9;p2"/>
          <p:cNvSpPr txBox="1"/>
          <p:nvPr/>
        </p:nvSpPr>
        <p:spPr>
          <a:xfrm>
            <a:off x="125373" y="542829"/>
            <a:ext cx="7710560" cy="324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Font typeface="Raleway SemiBold"/>
              <a:buNone/>
              <a:defRPr/>
            </a:pPr>
            <a:r>
              <a:rPr kumimoji="0" lang="en-US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1</a:t>
            </a:r>
            <a:r>
              <a:rPr kumimoji="0" lang="vi-V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.</a:t>
            </a:r>
            <a:r>
              <a:rPr kumimoji="0" lang="en-US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 </a:t>
            </a:r>
            <a:r>
              <a:rPr kumimoji="0" lang="vi-V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CÁC CÔNG VIỆC ĐÃ</a:t>
            </a:r>
            <a:r>
              <a:rPr kumimoji="0" lang="en-US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 </a:t>
            </a:r>
            <a:r>
              <a:rPr kumimoji="0" lang="vi-V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HOÀN THÀNH </a:t>
            </a:r>
            <a:r>
              <a:rPr kumimoji="0" lang="en-US" altLang="en-US" sz="200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THÁNG </a:t>
            </a:r>
            <a:r>
              <a:rPr lang="vi-VN" altLang="en-US" sz="2000" kern="0">
                <a:solidFill>
                  <a:srgbClr val="0070C0"/>
                </a:solidFill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0</a:t>
            </a:r>
            <a:r>
              <a:rPr lang="en-US" altLang="vi-VN" sz="2000" kern="0">
                <a:solidFill>
                  <a:srgbClr val="0070C0"/>
                </a:solidFill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8</a:t>
            </a:r>
            <a:r>
              <a:rPr lang="en-US" altLang="en-US" sz="2000" kern="0">
                <a:solidFill>
                  <a:srgbClr val="0070C0"/>
                </a:solidFill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.</a:t>
            </a:r>
            <a:r>
              <a:rPr kumimoji="0" lang="en-US" altLang="en-US" sz="200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202</a:t>
            </a:r>
            <a:r>
              <a:rPr lang="vi-VN" altLang="en-US" sz="2000" kern="0" dirty="0">
                <a:solidFill>
                  <a:srgbClr val="0070C0"/>
                </a:solidFill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6</a:t>
            </a:r>
            <a:endParaRPr kumimoji="0" lang="vi-VN" altLang="en-US" sz="200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 Regular" panose="020B0704020202020204" charset="0"/>
              <a:ea typeface="Tahoma" panose="020B0804030504040204"/>
              <a:cs typeface="Arial Regular" panose="020B0704020202020204" charset="0"/>
              <a:sym typeface="Tahoma" panose="020B0804030504040204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253865" y="5995035"/>
            <a:ext cx="2687320" cy="3244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vi-VN" altLang="en-US"/>
              <a:t>Hình ảnh về hệ thốn</a:t>
            </a:r>
            <a:r>
              <a:rPr lang="en-US" altLang="vi-VN"/>
              <a:t>g</a:t>
            </a:r>
            <a:endParaRPr lang="en-US" altLang="vi-VN"/>
          </a:p>
        </p:txBody>
      </p:sp>
      <p:sp>
        <p:nvSpPr>
          <p:cNvPr id="8" name="Text Box 7"/>
          <p:cNvSpPr txBox="1"/>
          <p:nvPr/>
        </p:nvSpPr>
        <p:spPr>
          <a:xfrm>
            <a:off x="125095" y="939800"/>
            <a:ext cx="11616055" cy="9283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charset="0"/>
              <a:buChar char=""/>
            </a:pPr>
            <a:r>
              <a:rPr lang="en-US" altLang="en-US" sz="1200">
                <a:latin typeface="Arial Regular" panose="020B0704020202020204" charset="0"/>
                <a:cs typeface="Arial Regular" panose="020B0704020202020204" charset="0"/>
                <a:sym typeface="+mn-ea"/>
              </a:rPr>
              <a:t>Xây dựng dự án kinhcontent.</a:t>
            </a:r>
            <a:endParaRPr lang="en-US" altLang="en-US" sz="1200">
              <a:latin typeface="Arial Regular" panose="020B0704020202020204" charset="0"/>
              <a:cs typeface="Arial Regular" panose="020B0704020202020204" charset="0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"/>
            </a:pPr>
            <a:r>
              <a:rPr lang="en-US" altLang="en-US" sz="1200">
                <a:latin typeface="Arial Regular" panose="020B0704020202020204" charset="0"/>
                <a:cs typeface="Arial Regular" panose="020B0704020202020204" charset="0"/>
                <a:sym typeface="+mn-ea"/>
              </a:rPr>
              <a:t>Hoàn thiện module quản lý đăng bài nền tảng mạng xã hội đa kênh (facebook, tiktok, youtuber)</a:t>
            </a:r>
            <a:endParaRPr lang="en-US" altLang="en-US" sz="1200">
              <a:latin typeface="Arial Regular" panose="020B0704020202020204" charset="0"/>
              <a:cs typeface="Arial Regular" panose="020B0704020202020204" charset="0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"/>
            </a:pPr>
            <a:r>
              <a:rPr lang="en-US" altLang="en-US" sz="1200">
                <a:latin typeface="Arial Regular" panose="020B0704020202020204" charset="0"/>
                <a:cs typeface="Arial Regular" panose="020B0704020202020204" charset="0"/>
                <a:sym typeface="+mn-ea"/>
              </a:rPr>
              <a:t>Hoàn thiện module trung tâm tin nhắn đa nền tảng (facebook, lazada, shoppe, zaloOa, WebLiveChat)</a:t>
            </a:r>
            <a:endParaRPr lang="en-US" altLang="en-US" sz="1200">
              <a:latin typeface="Arial Regular" panose="020B0704020202020204" charset="0"/>
              <a:cs typeface="Arial Regular" panose="020B0704020202020204" charset="0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"/>
            </a:pPr>
            <a:r>
              <a:rPr lang="en-US" altLang="en-US" sz="1200">
                <a:latin typeface="Arial Regular" panose="020B0704020202020204" charset="0"/>
                <a:cs typeface="Arial Regular" panose="020B0704020202020204" charset="0"/>
                <a:sym typeface="+mn-ea"/>
              </a:rPr>
              <a:t>Module quản lý tài nguyên hình ảnh videos hệ thống và phân quyền lưu trữ và truy cập</a:t>
            </a:r>
            <a:endParaRPr lang="en-US" altLang="en-US" sz="1200">
              <a:latin typeface="Arial Regular" panose="020B0704020202020204" charset="0"/>
              <a:cs typeface="Arial Regular" panose="020B0704020202020204" charset="0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"/>
            </a:pPr>
            <a:endParaRPr lang="en-US" altLang="en-US" sz="1200">
              <a:latin typeface="Arial Regular" panose="020B0704020202020204" charset="0"/>
              <a:cs typeface="Arial Regular" panose="020B0704020202020204" charset="0"/>
              <a:sym typeface="+mn-ea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735" y="2360930"/>
            <a:ext cx="4973955" cy="310451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115" y="2360930"/>
            <a:ext cx="5320665" cy="3105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Google Shape;169;p2"/>
          <p:cNvSpPr txBox="1"/>
          <p:nvPr/>
        </p:nvSpPr>
        <p:spPr>
          <a:xfrm>
            <a:off x="125373" y="542829"/>
            <a:ext cx="7710560" cy="324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Font typeface="Raleway SemiBold"/>
              <a:buNone/>
              <a:defRPr/>
            </a:pPr>
            <a:r>
              <a:rPr kumimoji="0" lang="en-US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1</a:t>
            </a:r>
            <a:r>
              <a:rPr kumimoji="0" lang="vi-V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.</a:t>
            </a:r>
            <a:r>
              <a:rPr kumimoji="0" lang="en-US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 </a:t>
            </a:r>
            <a:r>
              <a:rPr kumimoji="0" lang="vi-V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CÁC CÔNG VIỆC ĐÃ</a:t>
            </a:r>
            <a:r>
              <a:rPr kumimoji="0" lang="en-US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 </a:t>
            </a:r>
            <a:r>
              <a:rPr kumimoji="0" lang="vi-V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HOÀN THÀNH </a:t>
            </a:r>
            <a:r>
              <a:rPr kumimoji="0" lang="en-US" altLang="en-US" sz="200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THÁNG </a:t>
            </a:r>
            <a:r>
              <a:rPr lang="vi-VN" altLang="en-US" sz="2000" kern="0">
                <a:solidFill>
                  <a:srgbClr val="0070C0"/>
                </a:solidFill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0</a:t>
            </a:r>
            <a:r>
              <a:rPr lang="en-US" altLang="vi-VN" sz="2000" kern="0">
                <a:solidFill>
                  <a:srgbClr val="0070C0"/>
                </a:solidFill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8</a:t>
            </a:r>
            <a:r>
              <a:rPr lang="en-US" altLang="en-US" sz="2000" kern="0">
                <a:solidFill>
                  <a:srgbClr val="0070C0"/>
                </a:solidFill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.</a:t>
            </a:r>
            <a:r>
              <a:rPr kumimoji="0" lang="en-US" altLang="en-US" sz="200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202</a:t>
            </a:r>
            <a:r>
              <a:rPr lang="vi-VN" altLang="en-US" sz="2000" kern="0" dirty="0">
                <a:solidFill>
                  <a:srgbClr val="0070C0"/>
                </a:solidFill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6</a:t>
            </a:r>
            <a:endParaRPr kumimoji="0" lang="vi-VN" altLang="en-US" sz="200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 Regular" panose="020B0704020202020204" charset="0"/>
              <a:ea typeface="Tahoma" panose="020B0804030504040204"/>
              <a:cs typeface="Arial Regular" panose="020B0704020202020204" charset="0"/>
              <a:sym typeface="Tahoma" panose="020B0804030504040204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25095" y="939800"/>
            <a:ext cx="11616055" cy="1423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charset="0"/>
              <a:buChar char=""/>
            </a:pPr>
            <a:r>
              <a:rPr lang="en-US" altLang="en-US" sz="1200">
                <a:latin typeface="Arial Regular" panose="020B0704020202020204" charset="0"/>
                <a:cs typeface="Arial Regular" panose="020B0704020202020204" charset="0"/>
                <a:sym typeface="+mn-ea"/>
              </a:rPr>
              <a:t>Module báo cáo &amp; phân tích số liệu</a:t>
            </a:r>
            <a:endParaRPr lang="en-US" altLang="en-US" sz="1200">
              <a:latin typeface="Arial Regular" panose="020B0704020202020204" charset="0"/>
              <a:cs typeface="Arial Regular" panose="020B0704020202020204" charset="0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"/>
            </a:pPr>
            <a:r>
              <a:rPr lang="en-US" altLang="en-US" sz="1200">
                <a:latin typeface="Arial Regular" panose="020B0704020202020204" charset="0"/>
                <a:cs typeface="Arial Regular" panose="020B0704020202020204" charset="0"/>
                <a:sym typeface="+mn-ea"/>
              </a:rPr>
              <a:t>Module quản lý nội dung và luồng duyệt nội dung </a:t>
            </a:r>
            <a:endParaRPr lang="en-US" altLang="en-US" sz="1200">
              <a:latin typeface="Arial Regular" panose="020B0704020202020204" charset="0"/>
              <a:cs typeface="Arial Regular" panose="020B0704020202020204" charset="0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"/>
            </a:pPr>
            <a:r>
              <a:rPr lang="en-US" altLang="en-US" sz="1200">
                <a:latin typeface="Arial Regular" panose="020B0704020202020204" charset="0"/>
                <a:cs typeface="Arial Regular" panose="020B0704020202020204" charset="0"/>
                <a:sym typeface="+mn-ea"/>
              </a:rPr>
              <a:t>Module tích hợp Ai tự động chăm sóc khách hàng theo lịch </a:t>
            </a:r>
            <a:endParaRPr lang="en-US" altLang="en-US" sz="1200">
              <a:latin typeface="Arial Regular" panose="020B0704020202020204" charset="0"/>
              <a:cs typeface="Arial Regular" panose="020B0704020202020204" charset="0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"/>
            </a:pPr>
            <a:r>
              <a:rPr lang="en-US" altLang="en-US" sz="1200">
                <a:latin typeface="Arial Regular" panose="020B0704020202020204" charset="0"/>
                <a:cs typeface="Arial Regular" panose="020B0704020202020204" charset="0"/>
                <a:sym typeface="+mn-ea"/>
              </a:rPr>
              <a:t>Module Clone  nội dung theo chiến dịch</a:t>
            </a:r>
            <a:endParaRPr lang="en-US" altLang="en-US" sz="1200">
              <a:latin typeface="Arial Regular" panose="020B0704020202020204" charset="0"/>
              <a:cs typeface="Arial Regular" panose="020B0704020202020204" charset="0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"/>
            </a:pPr>
            <a:r>
              <a:rPr lang="en-US" altLang="en-US" sz="1200">
                <a:latin typeface="Arial Regular" panose="020B0704020202020204" charset="0"/>
                <a:cs typeface="Arial Regular" panose="020B0704020202020204" charset="0"/>
                <a:sym typeface="+mn-ea"/>
              </a:rPr>
              <a:t>Deloy hệ thống lên môi trường UAT : http://autopost.tnicorporation.com/</a:t>
            </a:r>
            <a:endParaRPr lang="en-US" altLang="en-US" sz="1200">
              <a:latin typeface="Arial Regular" panose="020B0704020202020204" charset="0"/>
              <a:cs typeface="Arial Regular" panose="020B0704020202020204" charset="0"/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160" y="2436495"/>
            <a:ext cx="5231765" cy="3175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190" y="2436495"/>
            <a:ext cx="5637530" cy="3174365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4253865" y="5995035"/>
            <a:ext cx="2687320" cy="3244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vi-VN" altLang="en-US"/>
              <a:t>Hình ảnh về hệ thốn</a:t>
            </a:r>
            <a:r>
              <a:rPr lang="en-US" altLang="vi-VN"/>
              <a:t>g</a:t>
            </a:r>
            <a:endParaRPr lang="en-US" altLang="vi-V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9;p2"/>
          <p:cNvSpPr txBox="1"/>
          <p:nvPr/>
        </p:nvSpPr>
        <p:spPr>
          <a:xfrm>
            <a:off x="145396" y="783365"/>
            <a:ext cx="7710560" cy="324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Font typeface="Raleway SemiBold"/>
              <a:buNone/>
              <a:defRPr/>
            </a:pPr>
            <a:r>
              <a:rPr kumimoji="0" lang="vi-V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2.</a:t>
            </a:r>
            <a:r>
              <a:rPr kumimoji="0" lang="en-US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 </a:t>
            </a:r>
            <a:r>
              <a:rPr kumimoji="0" lang="vi-V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KẾ HOẠCH CÔNG VIỆC</a:t>
            </a:r>
            <a:r>
              <a:rPr kumimoji="0" lang="en-US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 </a:t>
            </a:r>
            <a:r>
              <a:rPr kumimoji="0" lang="en-US" altLang="en-US" sz="200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THÁNG 0</a:t>
            </a:r>
            <a:r>
              <a:rPr kumimoji="0" lang="vi-VN" altLang="en-US" sz="200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6</a:t>
            </a:r>
            <a:r>
              <a:rPr lang="en-US" altLang="en-US" sz="2000" kern="0">
                <a:solidFill>
                  <a:srgbClr val="0070C0"/>
                </a:solidFill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.</a:t>
            </a:r>
            <a:r>
              <a:rPr kumimoji="0" lang="en-US" altLang="en-US" sz="200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202</a:t>
            </a:r>
            <a:r>
              <a:rPr lang="vi-VN" altLang="en-US" sz="2000" kern="0" dirty="0">
                <a:solidFill>
                  <a:srgbClr val="0070C0"/>
                </a:solidFill>
                <a:latin typeface="Arial Regular" panose="020B0704020202020204" charset="0"/>
                <a:ea typeface="Tahoma" panose="020B0804030504040204"/>
                <a:cs typeface="Arial Regular" panose="020B0704020202020204" charset="0"/>
                <a:sym typeface="Tahoma" panose="020B0804030504040204"/>
              </a:rPr>
              <a:t>6</a:t>
            </a:r>
            <a:endParaRPr kumimoji="0" lang="vi-VN" altLang="en-US" sz="200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 Regular" panose="020B0704020202020204" charset="0"/>
              <a:ea typeface="Tahoma" panose="020B0804030504040204"/>
              <a:cs typeface="Arial Regular" panose="020B0704020202020204" charset="0"/>
              <a:sym typeface="Tahoma" panose="020B08040305040402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45415" y="1293495"/>
            <a:ext cx="11616055" cy="1511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"/>
            </a:pPr>
            <a:r>
              <a:rPr lang="vi-VN" altLang="en-US" sz="1200" dirty="0">
                <a:latin typeface="Arial Regular" panose="020B0704020202020204" charset="0"/>
                <a:cs typeface="Arial Regular" panose="020B0704020202020204" charset="0"/>
                <a:sym typeface="+mn-ea"/>
              </a:rPr>
              <a:t>T</a:t>
            </a:r>
            <a:r>
              <a:rPr lang="en-US" altLang="vi-VN" sz="1200" dirty="0">
                <a:latin typeface="Arial Regular" panose="020B0704020202020204" charset="0"/>
                <a:cs typeface="Arial Regular" panose="020B0704020202020204" charset="0"/>
                <a:sym typeface="+mn-ea"/>
              </a:rPr>
              <a:t>ối ưu hoá hệ thống KingContent </a:t>
            </a:r>
            <a:endParaRPr lang="en-US" altLang="vi-VN" sz="1200" dirty="0">
              <a:latin typeface="Arial Regular" panose="020B0704020202020204" charset="0"/>
              <a:cs typeface="Arial Regular" panose="020B0704020202020204" charset="0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"/>
            </a:pPr>
            <a:r>
              <a:rPr lang="en-US" altLang="vi-VN" sz="1200" dirty="0">
                <a:latin typeface="Arial Regular" panose="020B0704020202020204" charset="0"/>
                <a:cs typeface="Arial Regular" panose="020B0704020202020204" charset="0"/>
                <a:sym typeface="+mn-ea"/>
              </a:rPr>
              <a:t>Viết user guid  cho hệ thống kingContent</a:t>
            </a:r>
            <a:endParaRPr lang="en-US" altLang="vi-VN" sz="1200" dirty="0">
              <a:latin typeface="Arial Regular" panose="020B0704020202020204" charset="0"/>
              <a:cs typeface="Arial Regular" panose="020B0704020202020204" charset="0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"/>
            </a:pPr>
            <a:r>
              <a:rPr lang="en-US" altLang="vi-VN" sz="1200" dirty="0">
                <a:latin typeface="Arial Regular" panose="020B0704020202020204" charset="0"/>
                <a:cs typeface="Arial Regular" panose="020B0704020202020204" charset="0"/>
                <a:sym typeface="+mn-ea"/>
              </a:rPr>
              <a:t>Tối ưu hoá module xây dựng nội dung videos, hình ảnh của  kingcotent</a:t>
            </a:r>
            <a:endParaRPr lang="en-US" altLang="vi-VN" sz="1200" dirty="0">
              <a:latin typeface="Arial Regular" panose="020B0704020202020204" charset="0"/>
              <a:cs typeface="Arial Regular" panose="020B0704020202020204" charset="0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"/>
            </a:pPr>
            <a:r>
              <a:rPr lang="en-US" altLang="vi-VN" sz="1200" dirty="0">
                <a:latin typeface="Arial Regular" panose="020B0704020202020204" charset="0"/>
                <a:cs typeface="Arial Regular" panose="020B0704020202020204" charset="0"/>
                <a:sym typeface="+mn-ea"/>
              </a:rPr>
              <a:t>Xây dựng hệ thống </a:t>
            </a:r>
            <a:r>
              <a:rPr lang="en-US" altLang="en-US" sz="1200" dirty="0">
                <a:latin typeface="Arial Regular" panose="020B0704020202020204" charset="0"/>
                <a:cs typeface="Arial Regular" panose="020B0704020202020204" charset="0"/>
                <a:sym typeface="+mn-ea"/>
              </a:rPr>
              <a:t>Quản trị tuyển dụng</a:t>
            </a:r>
            <a:endParaRPr lang="en-US" altLang="en-US" sz="1200" dirty="0">
              <a:latin typeface="Arial Regular" panose="020B0704020202020204" charset="0"/>
              <a:cs typeface="Arial Regular" panose="020B0704020202020204" charset="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" cstate="screen"/>
          <a:srcRect/>
          <a:stretch>
            <a:fillRect/>
          </a:stretch>
        </p:blipFill>
        <p:spPr>
          <a:xfrm>
            <a:off x="-1" y="-4610"/>
            <a:ext cx="12192001" cy="68672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03226" y="3856110"/>
            <a:ext cx="832539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lt1"/>
              </a:buClr>
              <a:buSzPct val="100000"/>
            </a:pPr>
            <a:r>
              <a:rPr lang="en-US" sz="5400" dirty="0">
                <a:solidFill>
                  <a:srgbClr val="FDD766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THANK YOU!</a:t>
            </a:r>
            <a:endParaRPr lang="en-US" sz="4000" dirty="0">
              <a:solidFill>
                <a:schemeClr val="bg1">
                  <a:lumMod val="95000"/>
                </a:schemeClr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1354</Words>
  <Application>WPS Sheets</Application>
  <PresentationFormat>Widescreen</PresentationFormat>
  <Paragraphs>57</Paragraphs>
  <Slides>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31" baseType="lpstr">
      <vt:lpstr>Arial</vt:lpstr>
      <vt:lpstr>SimSun</vt:lpstr>
      <vt:lpstr>Wingdings</vt:lpstr>
      <vt:lpstr>Calibri</vt:lpstr>
      <vt:lpstr>Helvetica Neue</vt:lpstr>
      <vt:lpstr>Times New Roman</vt:lpstr>
      <vt:lpstr>Verdana</vt:lpstr>
      <vt:lpstr>Krona One</vt:lpstr>
      <vt:lpstr>Arial</vt:lpstr>
      <vt:lpstr>Arial Regular</vt:lpstr>
      <vt:lpstr>Cambria</vt:lpstr>
      <vt:lpstr>Thonburi</vt:lpstr>
      <vt:lpstr>Raleway SemiBold</vt:lpstr>
      <vt:lpstr>Tahoma</vt:lpstr>
      <vt:lpstr>Wingdings</vt:lpstr>
      <vt:lpstr>Microsoft YaHei</vt:lpstr>
      <vt:lpstr>汉仪旗黑</vt:lpstr>
      <vt:lpstr>Arial Unicode MS</vt:lpstr>
      <vt:lpstr>Calibri Light</vt:lpstr>
      <vt:lpstr>宋体-简</vt:lpstr>
      <vt:lpstr>Calibri</vt:lpstr>
      <vt:lpstr>-apple-system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Product Marketing Manager</dc:creator>
  <cp:lastModifiedBy>p.thuyen</cp:lastModifiedBy>
  <cp:revision>1048</cp:revision>
  <dcterms:created xsi:type="dcterms:W3CDTF">2026-08-28T01:38:49Z</dcterms:created>
  <dcterms:modified xsi:type="dcterms:W3CDTF">2026-08-28T01:38:49Z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A565B10F34BEBBE7A9E6906AB2FAF6EF_43</vt:lpwstr>
  </property>
  <property fmtid="{D5CDD505-2E9C-101B-9397-08002B2CF9AE}" pid="3" name="KSOProductBuildVer">
    <vt:lpwstr>1033-12.1.26050.26050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2025-12-01T02:08:02Z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8561d6f8-d34e-43dd-9332-1945eea92240</vt:lpwstr>
  </property>
  <property fmtid="{D5CDD505-2E9C-101B-9397-08002B2CF9AE}" pid="9" name="MSIP_Label_defa4170-0d19-0005-0004-bc88714345d2_ActionId">
    <vt:lpwstr>2ddece74-0fa9-4cf6-9ece-f8b7d46e9b4c</vt:lpwstr>
  </property>
  <property fmtid="{D5CDD505-2E9C-101B-9397-08002B2CF9AE}" pid="10" name="MSIP_Label_defa4170-0d19-0005-0004-bc88714345d2_ContentBits">
    <vt:lpwstr>0</vt:lpwstr>
  </property>
  <property fmtid="{D5CDD505-2E9C-101B-9397-08002B2CF9AE}" pid="11" name="MSIP_Label_defa4170-0d19-0005-0004-bc88714345d2_Tag">
    <vt:lpwstr>50, 3, 0, 1</vt:lpwstr>
  </property>
</Properties>
</file>